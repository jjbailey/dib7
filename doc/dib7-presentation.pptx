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2011680" cy="292608"/>
          </a:xfrm>
          <a:prstGeom prst="roundRect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76072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ENGINEERING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43000"/>
            <a:ext cx="6675120" cy="13258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FFFFFF"/>
                </a:solidFill>
                <a:latin typeface="Noto Sans"/>
              </a:defRPr>
            </a:pPr>
            <a:r>
              <a:t>Linux infrastructure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FFFFFF"/>
                </a:solidFill>
                <a:latin typeface="Noto Sans"/>
              </a:defRPr>
            </a:pPr>
            <a:r>
              <a:t>from image to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697480"/>
            <a:ext cx="61264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6E1E2"/>
                </a:solidFill>
                <a:latin typeface="Noto Sans"/>
              </a:defRPr>
            </a:pPr>
            <a:r>
              <a:t>Build across platforms. Deploy consistently. Operate as one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3429000"/>
            <a:ext cx="61264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EB5BA"/>
                </a:solidFill>
                <a:latin typeface="Noto Sans"/>
              </a:defRPr>
            </a:pPr>
            <a:r>
              <a:t>diskimage-builder and Ansible, from seven Linux releases to four platforms.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5440680"/>
            <a:ext cx="52120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EB5BA"/>
                </a:solidFill>
                <a:latin typeface="Noto Sans"/>
              </a:defRPr>
            </a:pPr>
            <a:r>
              <a:t>DESIGN  /  DEPLOYMENT  /  SECURITY  /  OPERATIONS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452360" y="1234440"/>
            <a:ext cx="0" cy="4206240"/>
          </a:xfrm>
          <a:prstGeom prst="line">
            <a:avLst/>
          </a:prstGeom>
          <a:ln w="25400">
            <a:solidFill>
              <a:srgbClr val="486B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306056" y="1289304"/>
            <a:ext cx="292608" cy="292608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078992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5552" y="1362456"/>
            <a:ext cx="3063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QCOW2 image</a:t>
            </a:r>
          </a:p>
        </p:txBody>
      </p:sp>
      <p:sp>
        <p:nvSpPr>
          <p:cNvPr id="12" name="Oval 11"/>
          <p:cNvSpPr/>
          <p:nvPr/>
        </p:nvSpPr>
        <p:spPr>
          <a:xfrm>
            <a:off x="7306056" y="2450592"/>
            <a:ext cx="292608" cy="292608"/>
          </a:xfrm>
          <a:prstGeom prst="ellipse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45552" y="2240280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E4AD3A"/>
                </a:solidFill>
                <a:latin typeface="Noto Sans"/>
              </a:defRPr>
            </a:pPr>
            <a:r>
              <a:t>TRACE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523744"/>
            <a:ext cx="3063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artifact identity</a:t>
            </a:r>
          </a:p>
        </p:txBody>
      </p:sp>
      <p:sp>
        <p:nvSpPr>
          <p:cNvPr id="15" name="Oval 14"/>
          <p:cNvSpPr/>
          <p:nvPr/>
        </p:nvSpPr>
        <p:spPr>
          <a:xfrm>
            <a:off x="7306056" y="3611879"/>
            <a:ext cx="292608" cy="292608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3401568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3978A8"/>
                </a:solidFill>
                <a:latin typeface="Noto Sans"/>
              </a:defRPr>
            </a:pPr>
            <a:r>
              <a:t>PUBLISH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3685031"/>
            <a:ext cx="3063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cloud / vSphere</a:t>
            </a:r>
          </a:p>
        </p:txBody>
      </p:sp>
      <p:sp>
        <p:nvSpPr>
          <p:cNvPr id="18" name="Oval 17"/>
          <p:cNvSpPr/>
          <p:nvPr/>
        </p:nvSpPr>
        <p:spPr>
          <a:xfrm>
            <a:off x="7306056" y="4773168"/>
            <a:ext cx="292608" cy="292608"/>
          </a:xfrm>
          <a:prstGeom prst="ellipse">
            <a:avLst/>
          </a:prstGeom>
          <a:solidFill>
            <a:srgbClr val="4D8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4562856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4D8766"/>
                </a:solidFill>
                <a:latin typeface="Noto Sans"/>
              </a:defRPr>
            </a:pPr>
            <a:r>
              <a:t>OPERATE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552" y="4846320"/>
            <a:ext cx="30632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roles + lifecycle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SYSTEM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One system, two cooperating halves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536192"/>
            <a:ext cx="4480560" cy="4160520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6112" y="1810512"/>
            <a:ext cx="1481328" cy="292608"/>
          </a:xfrm>
          <a:prstGeom prst="round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19656"/>
            <a:ext cx="1481328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IMAGE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36118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42A"/>
                </a:solidFill>
                <a:latin typeface="Noto Sans"/>
              </a:defRPr>
            </a:pPr>
            <a:r>
              <a:t>Create a known Linux base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136391"/>
            <a:ext cx="91440" cy="91440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3035808"/>
            <a:ext cx="3255263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distro + release data in inventory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666744"/>
            <a:ext cx="91440" cy="91440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3566160"/>
            <a:ext cx="3255263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diskimage-builder elements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97096"/>
            <a:ext cx="91440" cy="91440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4096511"/>
            <a:ext cx="3255263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QCOW2, then OVA where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56048"/>
            <a:ext cx="3474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7595C"/>
                </a:solidFill>
                <a:latin typeface="Noto Sans"/>
              </a:defRPr>
            </a:pPr>
            <a:r>
              <a:t>7 releases  /  5 Linux families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85232"/>
            <a:ext cx="3474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C6A70"/>
                </a:solidFill>
                <a:latin typeface="DejaVu Sans Mono"/>
              </a:defRPr>
            </a:pPr>
            <a:r>
              <a:t>dib7</a:t>
            </a:r>
          </a:p>
        </p:txBody>
      </p:sp>
      <p:sp>
        <p:nvSpPr>
          <p:cNvPr id="18" name="Chevron 17"/>
          <p:cNvSpPr/>
          <p:nvPr/>
        </p:nvSpPr>
        <p:spPr>
          <a:xfrm>
            <a:off x="5285232" y="3090672"/>
            <a:ext cx="566928" cy="658368"/>
          </a:xfrm>
          <a:prstGeom prst="chevron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84064" y="3858768"/>
            <a:ext cx="932688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artifact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handoff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71616" y="1536192"/>
            <a:ext cx="5468112" cy="416052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45936" y="1810512"/>
            <a:ext cx="1965960" cy="292608"/>
          </a:xfrm>
          <a:prstGeom prst="roundRect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819656"/>
            <a:ext cx="19659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VM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331720"/>
            <a:ext cx="43891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42A"/>
                </a:solidFill>
                <a:latin typeface="Noto Sans"/>
              </a:defRPr>
            </a:pPr>
            <a:r>
              <a:t>Turn the base into a service</a:t>
            </a:r>
          </a:p>
        </p:txBody>
      </p:sp>
      <p:sp>
        <p:nvSpPr>
          <p:cNvPr id="24" name="Oval 23"/>
          <p:cNvSpPr/>
          <p:nvPr/>
        </p:nvSpPr>
        <p:spPr>
          <a:xfrm>
            <a:off x="6364224" y="3136391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035808"/>
            <a:ext cx="3941063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inventory expresses intent</a:t>
            </a:r>
          </a:p>
        </p:txBody>
      </p:sp>
      <p:sp>
        <p:nvSpPr>
          <p:cNvPr id="26" name="Oval 25"/>
          <p:cNvSpPr/>
          <p:nvPr/>
        </p:nvSpPr>
        <p:spPr>
          <a:xfrm>
            <a:off x="6364224" y="3666744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566160"/>
            <a:ext cx="3941063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roles configure the guest</a:t>
            </a:r>
          </a:p>
        </p:txBody>
      </p:sp>
      <p:sp>
        <p:nvSpPr>
          <p:cNvPr id="28" name="Oval 27"/>
          <p:cNvSpPr/>
          <p:nvPr/>
        </p:nvSpPr>
        <p:spPr>
          <a:xfrm>
            <a:off x="6364224" y="4197096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096511"/>
            <a:ext cx="3941063" cy="4937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7242A"/>
                </a:solidFill>
                <a:latin typeface="Noto Sans"/>
              </a:defRPr>
            </a:pPr>
            <a:r>
              <a:t>wrappers support its lifecycle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4956048"/>
            <a:ext cx="43891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3978A8"/>
                </a:solidFill>
                <a:latin typeface="Noto Sans"/>
              </a:defRPr>
            </a:pPr>
            <a:r>
              <a:t>4 publication targets  /  44 roles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5285232"/>
            <a:ext cx="4389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5C6A70"/>
                </a:solidFill>
                <a:latin typeface="DejaVu Sans Mono"/>
              </a:defRPr>
            </a:pPr>
            <a:r>
              <a:t>ansible-vmware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Build once. Publish at the edges.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" y="2377440"/>
            <a:ext cx="2148840" cy="1078992"/>
          </a:xfrm>
          <a:prstGeom prst="roundRect">
            <a:avLst/>
          </a:prstGeom>
          <a:solidFill>
            <a:srgbClr val="12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542032"/>
            <a:ext cx="17830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9EB5BA"/>
                </a:solidFill>
                <a:latin typeface="Noto Sans"/>
              </a:defRPr>
            </a:pPr>
            <a:r>
              <a:t>DISTRO INPUTS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852928"/>
            <a:ext cx="17830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Linux + policy</a:t>
            </a:r>
          </a:p>
        </p:txBody>
      </p:sp>
      <p:sp>
        <p:nvSpPr>
          <p:cNvPr id="9" name="Chevron 8"/>
          <p:cNvSpPr/>
          <p:nvPr/>
        </p:nvSpPr>
        <p:spPr>
          <a:xfrm>
            <a:off x="3035808" y="2688336"/>
            <a:ext cx="384048" cy="457200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0" y="2157984"/>
            <a:ext cx="2423160" cy="1508760"/>
          </a:xfrm>
          <a:prstGeom prst="round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2450592"/>
            <a:ext cx="1874519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CDE5E4"/>
                </a:solidFill>
                <a:latin typeface="Noto Sans"/>
              </a:defRPr>
            </a:pPr>
            <a:r>
              <a:t>CANONICAL 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816352"/>
            <a:ext cx="1874519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Noto Sans"/>
              </a:defRPr>
            </a:pPr>
            <a:r>
              <a:t>QCOW2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080760" y="1901952"/>
            <a:ext cx="822960" cy="585216"/>
          </a:xfrm>
          <a:prstGeom prst="line">
            <a:avLst/>
          </a:prstGeom>
          <a:ln w="25400">
            <a:solidFill>
              <a:srgbClr val="087E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80760" y="3337560"/>
            <a:ext cx="822960" cy="1188720"/>
          </a:xfrm>
          <a:prstGeom prst="line">
            <a:avLst/>
          </a:prstGeom>
          <a:ln w="25400">
            <a:solidFill>
              <a:srgbClr val="087E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986016" y="1389888"/>
            <a:ext cx="1078992" cy="292608"/>
          </a:xfrm>
          <a:prstGeom prst="round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1399032"/>
            <a:ext cx="107899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DIRECT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86016" y="1810512"/>
            <a:ext cx="452628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2039112"/>
            <a:ext cx="1737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Google Cloud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066543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GCS bucket -&gt; Compute image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86016" y="2862072"/>
            <a:ext cx="452628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3090672"/>
            <a:ext cx="1737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OpenStack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118104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C6A70"/>
                </a:solidFill>
                <a:latin typeface="Noto Sans"/>
              </a:defRPr>
            </a:pPr>
            <a:r>
              <a:t>Glance upload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86016" y="3703320"/>
            <a:ext cx="1316736" cy="292608"/>
          </a:xfrm>
          <a:prstGeom prst="roundRect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6016" y="3712463"/>
            <a:ext cx="1316736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CONVERT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86016" y="4114800"/>
            <a:ext cx="1143000" cy="786384"/>
          </a:xfrm>
          <a:prstGeom prst="roundRect">
            <a:avLst/>
          </a:prstGeom>
          <a:solidFill>
            <a:srgbClr val="F4E2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14032" y="4315968"/>
            <a:ext cx="88696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D95D43"/>
                </a:solidFill>
                <a:latin typeface="Noto Sans"/>
              </a:defRPr>
            </a:pPr>
            <a:r>
              <a:t>OVA</a:t>
            </a:r>
          </a:p>
        </p:txBody>
      </p:sp>
      <p:sp>
        <p:nvSpPr>
          <p:cNvPr id="27" name="Chevron 26"/>
          <p:cNvSpPr/>
          <p:nvPr/>
        </p:nvSpPr>
        <p:spPr>
          <a:xfrm>
            <a:off x="8302752" y="4279392"/>
            <a:ext cx="347472" cy="411480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823960" y="3813048"/>
            <a:ext cx="2688336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5984" y="4014215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Noto Sans"/>
              </a:defRPr>
            </a:pPr>
            <a:r>
              <a:t>AWS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4041648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S3 -&gt; AMI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23960" y="4745736"/>
            <a:ext cx="2688336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15984" y="4946903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Noto Sans"/>
              </a:defRPr>
            </a:pPr>
            <a:r>
              <a:t>vSphere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4974336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library OVA / template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4846320"/>
            <a:ext cx="525780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42A"/>
                </a:solidFill>
                <a:latin typeface="Noto Sans"/>
              </a:defRPr>
            </a:pPr>
            <a:r>
              <a:t>One image path owns Linux customization.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7242A"/>
                </a:solidFill>
                <a:latin typeface="Noto Sans"/>
              </a:defRPr>
            </a:pPr>
            <a:r>
              <a:t>Destination logic stays at the boundary.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REQUIREMENTS TO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Configuration is the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44752"/>
            <a:ext cx="1508760" cy="292608"/>
          </a:xfrm>
          <a:prstGeom prst="roundRect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53896"/>
            <a:ext cx="150876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HOST INTENT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47088"/>
            <a:ext cx="3474720" cy="2423160"/>
          </a:xfrm>
          <a:prstGeom prst="roundRect">
            <a:avLst/>
          </a:prstGeom>
          <a:solidFill>
            <a:srgbClr val="12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84831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8CC9C9"/>
                </a:solidFill>
                <a:latin typeface="DejaVu Sans Mono"/>
              </a:defRPr>
            </a:pPr>
            <a:r>
              <a:t>os_family: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084831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FFFFFF"/>
                </a:solidFill>
                <a:latin typeface="DejaVu Sans Mono"/>
              </a:defRPr>
            </a:pPr>
            <a:r>
              <a:t>Debian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8CC9C9"/>
                </a:solidFill>
                <a:latin typeface="DejaVu Sans Mono"/>
              </a:defRPr>
            </a:pPr>
            <a:r>
              <a:t>os_release: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286000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FFFFFF"/>
                </a:solidFill>
                <a:latin typeface="DejaVu Sans Mono"/>
              </a:defRPr>
            </a:pPr>
            <a:r>
              <a:t>24.04.5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8CC9C9"/>
                </a:solidFill>
                <a:latin typeface="DejaVu Sans Mono"/>
              </a:defRPr>
            </a:pPr>
            <a:r>
              <a:t>vm_num_cpus: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487168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FFFFFF"/>
                </a:solidFill>
                <a:latin typeface="DejaVu Sans Mono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688336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8CC9C9"/>
                </a:solidFill>
                <a:latin typeface="DejaVu Sans Mono"/>
              </a:defRPr>
            </a:pPr>
            <a:r>
              <a:t>vm_memory_mb: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688336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FFFFFF"/>
                </a:solidFill>
                <a:latin typeface="DejaVu Sans Mono"/>
              </a:defRPr>
            </a:pPr>
            <a:r>
              <a:t>4096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89503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8CC9C9"/>
                </a:solidFill>
                <a:latin typeface="DejaVu Sans Mono"/>
              </a:defRPr>
            </a:pPr>
            <a:r>
              <a:t>vm_disk1_gb: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889503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FFFFFF"/>
                </a:solidFill>
                <a:latin typeface="DejaVu Sans Mono"/>
              </a:defRPr>
            </a:pPr>
            <a:r>
              <a:t>2000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090672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8CC9C9"/>
                </a:solidFill>
                <a:latin typeface="DejaVu Sans Mono"/>
              </a:defRPr>
            </a:pPr>
            <a:r>
              <a:t>vm_vlan: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090672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FFFFFF"/>
                </a:solidFill>
                <a:latin typeface="DejaVu Sans Mono"/>
              </a:defRPr>
            </a:pPr>
            <a:r>
              <a:t>VM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91839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8CC9C9"/>
                </a:solidFill>
                <a:latin typeface="DejaVu Sans Mono"/>
              </a:defRPr>
            </a:pPr>
            <a:r>
              <a:t>vm_role: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3291839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FFFFFF"/>
                </a:solidFill>
                <a:latin typeface="DejaVu Sans Mono"/>
              </a:defRPr>
            </a:pPr>
            <a:r>
              <a:t>test-ubuntu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493008"/>
            <a:ext cx="1600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8CC9C9"/>
                </a:solidFill>
                <a:latin typeface="DejaVu Sans Mono"/>
              </a:defRPr>
            </a:pPr>
            <a:r>
              <a:t>vm_env: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3493008"/>
            <a:ext cx="1371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FFFFFF"/>
                </a:solidFill>
                <a:latin typeface="DejaVu Sans Mono"/>
              </a:defRPr>
            </a:pPr>
            <a:r>
              <a:t>prod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58768"/>
            <a:ext cx="29260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AFC4C6"/>
                </a:solidFill>
                <a:latin typeface="Noto Sans"/>
              </a:defRPr>
            </a:pPr>
            <a:r>
              <a:t>reviewable  /  versioned  /  explicit</a:t>
            </a:r>
          </a:p>
        </p:txBody>
      </p:sp>
      <p:sp>
        <p:nvSpPr>
          <p:cNvPr id="26" name="Chevron 25"/>
          <p:cNvSpPr/>
          <p:nvPr/>
        </p:nvSpPr>
        <p:spPr>
          <a:xfrm>
            <a:off x="4443984" y="3127248"/>
            <a:ext cx="420624" cy="502920"/>
          </a:xfrm>
          <a:prstGeom prst="chevron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66360" y="1444752"/>
            <a:ext cx="1143000" cy="292608"/>
          </a:xfrm>
          <a:prstGeom prst="round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6360" y="1453896"/>
            <a:ext cx="11430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ROLES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66360" y="1920240"/>
            <a:ext cx="1298448" cy="658368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60" y="2121408"/>
            <a:ext cx="12984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07595C"/>
                </a:solidFill>
                <a:latin typeface="DejaVu Sans Mono"/>
              </a:defRPr>
            </a:pPr>
            <a:r>
              <a:t>deploy-ova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0" y="1920240"/>
            <a:ext cx="1298448" cy="658368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121408"/>
            <a:ext cx="12984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07595C"/>
                </a:solidFill>
                <a:latin typeface="DejaVu Sans Mono"/>
              </a:defRPr>
            </a:pPr>
            <a:r>
              <a:t>networks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66360" y="2852928"/>
            <a:ext cx="1298448" cy="658368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66360" y="3054096"/>
            <a:ext cx="12984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07595C"/>
                </a:solidFill>
                <a:latin typeface="DejaVu Sans Mono"/>
              </a:defRPr>
            </a:pPr>
            <a:r>
              <a:t>lvol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0" y="2852928"/>
            <a:ext cx="1298448" cy="658368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3054096"/>
            <a:ext cx="12984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07595C"/>
                </a:solidFill>
                <a:latin typeface="DejaVu Sans Mono"/>
              </a:defRPr>
            </a:pPr>
            <a:r>
              <a:t>default-users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166360" y="3785616"/>
            <a:ext cx="1298448" cy="658368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66360" y="3986784"/>
            <a:ext cx="12984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07595C"/>
                </a:solidFill>
                <a:latin typeface="DejaVu Sans Mono"/>
              </a:defRPr>
            </a:pPr>
            <a:r>
              <a:t>ufw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3785616"/>
            <a:ext cx="1298448" cy="658368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3986784"/>
            <a:ext cx="12984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07595C"/>
                </a:solidFill>
                <a:latin typeface="DejaVu Sans Mono"/>
              </a:defRPr>
            </a:pPr>
            <a:r>
              <a:t>telegraf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66360" y="4754880"/>
            <a:ext cx="27432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50" b="1">
                <a:solidFill>
                  <a:srgbClr val="5C6A70"/>
                </a:solidFill>
                <a:latin typeface="Noto Sans"/>
              </a:defRPr>
            </a:pPr>
            <a:r>
              <a:t>44 roles, one per concern</a:t>
            </a:r>
          </a:p>
        </p:txBody>
      </p:sp>
      <p:sp>
        <p:nvSpPr>
          <p:cNvPr id="42" name="Chevron 41"/>
          <p:cNvSpPr/>
          <p:nvPr/>
        </p:nvSpPr>
        <p:spPr>
          <a:xfrm>
            <a:off x="7982712" y="3127248"/>
            <a:ext cx="420624" cy="502920"/>
          </a:xfrm>
          <a:prstGeom prst="chevron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705088" y="1444752"/>
            <a:ext cx="1600200" cy="292608"/>
          </a:xfrm>
          <a:prstGeom prst="roundRect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05088" y="1453896"/>
            <a:ext cx="160020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RESULT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05088" y="1874519"/>
            <a:ext cx="2816352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2020824"/>
            <a:ext cx="2331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Noto Sans"/>
              </a:defRPr>
            </a:pPr>
            <a:r>
              <a:t>Known state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2331720"/>
            <a:ext cx="23317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hardware + OS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05088" y="2953511"/>
            <a:ext cx="2816352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42832" y="3099815"/>
            <a:ext cx="2331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Noto Sans"/>
              </a:defRPr>
            </a:pPr>
            <a:r>
              <a:t>Controlled access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42832" y="3410711"/>
            <a:ext cx="23317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keys + policy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705088" y="4032504"/>
            <a:ext cx="2816352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42832" y="4178808"/>
            <a:ext cx="23317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Noto Sans"/>
              </a:defRPr>
            </a:pPr>
            <a:r>
              <a:t>Operable service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42832" y="4489704"/>
            <a:ext cx="23317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metrics + lifecycle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05088" y="5074920"/>
            <a:ext cx="278892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978A8"/>
                </a:solidFill>
                <a:latin typeface="Noto Sans"/>
              </a:defRPr>
            </a:pPr>
            <a:r>
              <a:t>Change the model,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3978A8"/>
                </a:solidFill>
                <a:latin typeface="Noto Sans"/>
              </a:defRPr>
            </a:pPr>
            <a:r>
              <a:t>then validate the machine.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ARTIFACT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Every artifact carries its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C6A70"/>
                </a:solidFill>
                <a:latin typeface="Noto Sans"/>
              </a:defRPr>
            </a:pPr>
            <a:r>
              <a:t>One run ID, passed to every stage. Each stage stamps what it made and refuses what it did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17373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59152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88336"/>
            <a:ext cx="13898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C6A70"/>
                </a:solidFill>
                <a:latin typeface="Noto Sans"/>
              </a:defRPr>
            </a:pPr>
            <a:r>
              <a:t>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17520"/>
            <a:ext cx="14630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DejaVu Sans Mono"/>
              </a:defRPr>
            </a:pPr>
            <a:r>
              <a:t>qcow2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45643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.built stamp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22191"/>
            <a:ext cx="1737360" cy="109728"/>
          </a:xfrm>
          <a:prstGeom prst="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505456" y="2834640"/>
            <a:ext cx="256032" cy="420624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71215" y="2194560"/>
            <a:ext cx="17373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35808" y="2359152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E4AD3A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2688336"/>
            <a:ext cx="13898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C6A70"/>
                </a:solidFill>
                <a:latin typeface="Noto Sans"/>
              </a:defRPr>
            </a:pPr>
            <a:r>
              <a:t>VERIFY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3017520"/>
            <a:ext cx="14630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DejaVu Sans Mono"/>
              </a:defRPr>
            </a:pPr>
            <a:r>
              <a:t>stamp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345643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= run_id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71215" y="3822191"/>
            <a:ext cx="1737360" cy="109728"/>
          </a:xfrm>
          <a:prstGeom prst="rect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/>
          <p:cNvSpPr/>
          <p:nvPr/>
        </p:nvSpPr>
        <p:spPr>
          <a:xfrm>
            <a:off x="4718304" y="2834640"/>
            <a:ext cx="256032" cy="420624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84064" y="2194560"/>
            <a:ext cx="17373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48655" y="2359152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D95D43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5" y="2688336"/>
            <a:ext cx="13898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C6A70"/>
                </a:solidFill>
                <a:latin typeface="Noto Sans"/>
              </a:defRPr>
            </a:pPr>
            <a:r>
              <a:t>CONVERT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5" y="3017520"/>
            <a:ext cx="14630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DejaVu Sans Mono"/>
              </a:defRPr>
            </a:pPr>
            <a:r>
              <a:t>ova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48655" y="345643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.converted stamp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064" y="3822191"/>
            <a:ext cx="1737360" cy="109728"/>
          </a:xfrm>
          <a:prstGeom prst="rect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evron 26"/>
          <p:cNvSpPr/>
          <p:nvPr/>
        </p:nvSpPr>
        <p:spPr>
          <a:xfrm>
            <a:off x="6931152" y="2834640"/>
            <a:ext cx="256032" cy="420624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296912" y="2194560"/>
            <a:ext cx="17373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61504" y="2359152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E4AD3A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2688336"/>
            <a:ext cx="13898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C6A70"/>
                </a:solidFill>
                <a:latin typeface="Noto Sans"/>
              </a:defRPr>
            </a:pPr>
            <a:r>
              <a:t>VERIFY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3017520"/>
            <a:ext cx="14630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DejaVu Sans Mono"/>
              </a:defRPr>
            </a:pPr>
            <a:r>
              <a:t>stamp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504" y="345643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= run_id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822191"/>
            <a:ext cx="1737360" cy="109728"/>
          </a:xfrm>
          <a:prstGeom prst="rect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9144000" y="2834640"/>
            <a:ext cx="256032" cy="420624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09760" y="2194560"/>
            <a:ext cx="173736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74352" y="2359152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3978A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74352" y="2688336"/>
            <a:ext cx="13898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C6A70"/>
                </a:solidFill>
                <a:latin typeface="Noto Sans"/>
              </a:defRPr>
            </a:pPr>
            <a:r>
              <a:t>PUBLISH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4352" y="3017520"/>
            <a:ext cx="14630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DejaVu Sans Mono"/>
              </a:defRPr>
            </a:pPr>
            <a:r>
              <a:t>4 targets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74352" y="345643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C6A70"/>
                </a:solidFill>
                <a:latin typeface="Noto Sans"/>
              </a:defRPr>
            </a:pPr>
            <a:r>
              <a:t>catalog entry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9760" y="3822191"/>
            <a:ext cx="1737360" cy="109728"/>
          </a:xfrm>
          <a:prstGeom prst="rect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8368" y="4434840"/>
            <a:ext cx="5257800" cy="1234440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617720"/>
            <a:ext cx="1280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D8766"/>
                </a:solidFill>
                <a:latin typeface="Noto Sans"/>
              </a:defRPr>
            </a:pPr>
            <a:r>
              <a:t>IDENTITY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937760"/>
            <a:ext cx="475488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7242A"/>
                </a:solidFill>
                <a:latin typeface="Noto Sans"/>
              </a:defRPr>
            </a:pPr>
            <a:r>
              <a:t>The run ID follows the artifact. A stale qcow2 or OVA from an earlier run is never published by mistake.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434840"/>
            <a:ext cx="5303520" cy="123444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3952" y="4617720"/>
            <a:ext cx="12801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3978A8"/>
                </a:solidFill>
                <a:latin typeface="Noto Sans"/>
              </a:defRPr>
            </a:pPr>
            <a:r>
              <a:t>CATALOG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3952" y="4937760"/>
            <a:ext cx="48006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17242A"/>
                </a:solidFill>
                <a:latin typeface="Noto Sans"/>
              </a:defRPr>
            </a:pPr>
            <a:r>
              <a:t>Every import records its provider artifact ID, versioned by run, in a JSON catalog that Terraform can consume.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PORTFOLIO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Seven releases. One coordinated run.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96012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C6A70"/>
                </a:solidFill>
                <a:latin typeface="Noto Sans"/>
              </a:defRPr>
            </a:pPr>
            <a:r>
              <a:t>Shared orchestration, distro-specific data, individual results.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12848"/>
            <a:ext cx="1417320" cy="1024128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1417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CentOS Stream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61488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7595C"/>
                </a:solidFill>
                <a:latin typeface="DejaVu Sans Mono"/>
              </a:defRPr>
            </a:pPr>
            <a:r>
              <a:t>centos10s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2724912"/>
            <a:ext cx="155448" cy="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31136" y="2212848"/>
            <a:ext cx="1417320" cy="1024128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31136" y="2377440"/>
            <a:ext cx="1417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Debian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2761488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7595C"/>
                </a:solidFill>
                <a:latin typeface="DejaVu Sans Mono"/>
              </a:defRPr>
            </a:pPr>
            <a:r>
              <a:t>debian1215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48456" y="2724912"/>
            <a:ext cx="155448" cy="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03904" y="2212848"/>
            <a:ext cx="1417320" cy="1024128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03904" y="2377440"/>
            <a:ext cx="1417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Debian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3904" y="2761488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7595C"/>
                </a:solidFill>
                <a:latin typeface="DejaVu Sans Mono"/>
              </a:defRPr>
            </a:pPr>
            <a:r>
              <a:t>debian1307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21224" y="2724912"/>
            <a:ext cx="155448" cy="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376672" y="2212848"/>
            <a:ext cx="1417320" cy="1024128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2377440"/>
            <a:ext cx="1417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Fedora 44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6672" y="2761488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7595C"/>
                </a:solidFill>
                <a:latin typeface="DejaVu Sans Mono"/>
              </a:defRPr>
            </a:pPr>
            <a:r>
              <a:t>fedora44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793992" y="2724912"/>
            <a:ext cx="155448" cy="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949440" y="2212848"/>
            <a:ext cx="1417320" cy="1024128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2377440"/>
            <a:ext cx="1417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Rocky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761488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7595C"/>
                </a:solidFill>
                <a:latin typeface="DejaVu Sans Mono"/>
              </a:defRPr>
            </a:pPr>
            <a:r>
              <a:t>rocky102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66760" y="2724912"/>
            <a:ext cx="155448" cy="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522208" y="2212848"/>
            <a:ext cx="1417320" cy="1024128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22208" y="2377440"/>
            <a:ext cx="1417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Ubuntu 24.04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2761488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7595C"/>
                </a:solidFill>
                <a:latin typeface="DejaVu Sans Mono"/>
              </a:defRPr>
            </a:pPr>
            <a:r>
              <a:t>ubuntu24045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939528" y="2724912"/>
            <a:ext cx="155448" cy="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094976" y="2212848"/>
            <a:ext cx="1417320" cy="1024128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94976" y="2377440"/>
            <a:ext cx="14173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Ubuntu 26.04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94976" y="2761488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7595C"/>
                </a:solidFill>
                <a:latin typeface="DejaVu Sans Mono"/>
              </a:defRPr>
            </a:pPr>
            <a:r>
              <a:t>ubuntu26041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794760"/>
            <a:ext cx="5120640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6112" y="4014215"/>
            <a:ext cx="1444752" cy="292608"/>
          </a:xfrm>
          <a:prstGeom prst="round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4023359"/>
            <a:ext cx="144475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PORTFOLIO 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" y="4489704"/>
            <a:ext cx="46634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one playbook  -&gt;  seven images  -&gt;  one summary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3794760"/>
            <a:ext cx="5376672" cy="1307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382512" y="4014215"/>
            <a:ext cx="1627632" cy="292608"/>
          </a:xfrm>
          <a:prstGeom prst="roundRect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4023359"/>
            <a:ext cx="162763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PER-IMAGE DETAIL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4489704"/>
            <a:ext cx="493776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result + timing + artifact identity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559552"/>
            <a:ext cx="108813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595C"/>
                </a:solidFill>
                <a:latin typeface="Noto Sans"/>
              </a:defRPr>
            </a:pPr>
            <a:r>
              <a:t>Breadth for the estate. Precision for each image.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CONTINUOUS IMPROVEMENT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Operations make the platform smarter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399032"/>
            <a:ext cx="1417320" cy="292608"/>
          </a:xfrm>
          <a:prstGeom prst="roundRect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408176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LEARNING LOOP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029968"/>
            <a:ext cx="384048" cy="384048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103120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Noto San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2066543"/>
            <a:ext cx="1920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42A"/>
                </a:solidFill>
                <a:latin typeface="Noto Sans"/>
              </a:defRPr>
            </a:pPr>
            <a:r>
              <a:t>observe the run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27248" y="2231136"/>
            <a:ext cx="237743" cy="0"/>
          </a:xfrm>
          <a:prstGeom prst="line">
            <a:avLst/>
          </a:prstGeom>
          <a:ln w="25400">
            <a:solidFill>
              <a:srgbClr val="3978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401568" y="2029968"/>
            <a:ext cx="384048" cy="384048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2103120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Noto San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7" y="2066543"/>
            <a:ext cx="1920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42A"/>
                </a:solidFill>
                <a:latin typeface="Noto Sans"/>
              </a:defRPr>
            </a:pPr>
            <a:r>
              <a:t>explain the mechanism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0448" y="2231136"/>
            <a:ext cx="237744" cy="0"/>
          </a:xfrm>
          <a:prstGeom prst="line">
            <a:avLst/>
          </a:prstGeom>
          <a:ln w="25400">
            <a:solidFill>
              <a:srgbClr val="3978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144768" y="2029968"/>
            <a:ext cx="384048" cy="384048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2103120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Noto Sans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2066543"/>
            <a:ext cx="1920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42A"/>
                </a:solidFill>
                <a:latin typeface="Noto Sans"/>
              </a:defRPr>
            </a:pPr>
            <a:r>
              <a:t>improve the design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13648" y="2231136"/>
            <a:ext cx="237744" cy="0"/>
          </a:xfrm>
          <a:prstGeom prst="line">
            <a:avLst/>
          </a:prstGeom>
          <a:ln w="25400">
            <a:solidFill>
              <a:srgbClr val="3978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887968" y="2029968"/>
            <a:ext cx="384048" cy="384048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7968" y="2103120"/>
            <a:ext cx="3840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FFFFFF"/>
                </a:solidFill>
                <a:latin typeface="Noto Sans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0888" y="2066543"/>
            <a:ext cx="1920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42A"/>
                </a:solidFill>
                <a:latin typeface="Noto Sans"/>
              </a:defRPr>
            </a:pPr>
            <a:r>
              <a:t>deliver more capability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0392" y="2889504"/>
            <a:ext cx="10433304" cy="0"/>
          </a:xfrm>
          <a:prstGeom prst="line">
            <a:avLst/>
          </a:prstGeom>
          <a:ln w="127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3090672"/>
            <a:ext cx="109728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5C6A70"/>
                </a:solidFill>
                <a:latin typeface="Noto Sans"/>
              </a:defRPr>
            </a:pPr>
            <a:r>
              <a:t>A multi-image run showed serial batching colliding with a shared build directory. That became design.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749039"/>
            <a:ext cx="1554480" cy="292608"/>
          </a:xfrm>
          <a:prstGeom prst="roundRect">
            <a:avLst/>
          </a:prstGeom>
          <a:solidFill>
            <a:srgbClr val="4D8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758183"/>
            <a:ext cx="155448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CAPABILITIES ADDED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215384"/>
            <a:ext cx="2487168" cy="1078992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" y="4416552"/>
            <a:ext cx="212140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COMPLETE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754880"/>
            <a:ext cx="212140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per-image results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01568" y="4215384"/>
            <a:ext cx="2487168" cy="1078992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4416552"/>
            <a:ext cx="212140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SUMMARIZE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4754880"/>
            <a:ext cx="212140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one stage report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4215384"/>
            <a:ext cx="2487168" cy="1078992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4416552"/>
            <a:ext cx="212140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TRACE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754880"/>
            <a:ext cx="212140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run stamps + catalog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87968" y="4215384"/>
            <a:ext cx="2487168" cy="1078992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70848" y="4416552"/>
            <a:ext cx="212140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GUARD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4754880"/>
            <a:ext cx="212140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one build at a time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650992"/>
            <a:ext cx="109728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7595C"/>
                </a:solidFill>
                <a:latin typeface="Noto Sans"/>
              </a:defRPr>
            </a:pPr>
            <a:r>
              <a:t>Learn once. Improve every future run.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CONFIDENCE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Controls that enable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5138928" cy="1737360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92224"/>
            <a:ext cx="1645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CREDENTIALS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103120"/>
            <a:ext cx="45262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42A"/>
                </a:solidFill>
                <a:latin typeface="Noto Sans"/>
              </a:defRPr>
            </a:pPr>
            <a:r>
              <a:t>Ansible Vault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45720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A70"/>
                </a:solidFill>
                <a:latin typeface="Noto Sans"/>
              </a:defRPr>
            </a:pPr>
            <a:r>
              <a:t>One vault per platform: vSphere, AWS, GCP, OpenStack. Playbooks never see a plaintext secret.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138928" cy="1737360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92224"/>
            <a:ext cx="1645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3978A8"/>
                </a:solidFill>
                <a:latin typeface="Noto Sans"/>
              </a:defRPr>
            </a:pPr>
            <a:r>
              <a:t>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03120"/>
            <a:ext cx="45262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42A"/>
                </a:solidFill>
                <a:latin typeface="Noto Sans"/>
              </a:defRPr>
            </a:pPr>
            <a:r>
              <a:t>Managed SSH keys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14600"/>
            <a:ext cx="45720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A70"/>
                </a:solidFill>
                <a:latin typeface="Noto Sans"/>
              </a:defRPr>
            </a:pPr>
            <a:r>
              <a:t>An authorized_keys role puts the same lab and prod keys on every deployed guest.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11880"/>
            <a:ext cx="5138928" cy="1737360"/>
          </a:xfrm>
          <a:prstGeom prst="roundRect">
            <a:avLst/>
          </a:prstGeom>
          <a:solidFill>
            <a:srgbClr val="F4E2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849624"/>
            <a:ext cx="1645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D95D43"/>
                </a:solidFill>
                <a:latin typeface="Noto Sans"/>
              </a:defRPr>
            </a:pPr>
            <a:r>
              <a:t>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160520"/>
            <a:ext cx="45262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42A"/>
                </a:solidFill>
                <a:latin typeface="Noto Sans"/>
              </a:defRPr>
            </a:pPr>
            <a:r>
              <a:t>Declarative firewall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572000"/>
            <a:ext cx="45720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A70"/>
                </a:solidFill>
                <a:latin typeface="Noto Sans"/>
              </a:defRPr>
            </a:pPr>
            <a:r>
              <a:t>A ufw role applies policy from host intent, so the rules travel with the machine.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611880"/>
            <a:ext cx="5138928" cy="1737360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849624"/>
            <a:ext cx="1645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4D8766"/>
                </a:solidFill>
                <a:latin typeface="Noto Sans"/>
              </a:defRPr>
            </a:pPr>
            <a:r>
              <a:t>SUPPLY 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160520"/>
            <a:ext cx="45262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42A"/>
                </a:solidFill>
                <a:latin typeface="Noto Sans"/>
              </a:defRPr>
            </a:pPr>
            <a:r>
              <a:t>Pinned + traceable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572000"/>
            <a:ext cx="457200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C6A70"/>
                </a:solidFill>
                <a:latin typeface="Noto Sans"/>
              </a:defRPr>
            </a:pPr>
            <a:r>
              <a:t>requirements.txt and requirements.yml pin every dependency; stamps identify every output.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806440"/>
            <a:ext cx="109728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595C"/>
                </a:solidFill>
                <a:latin typeface="Noto Sans"/>
              </a:defRPr>
            </a:pPr>
            <a:r>
              <a:t>Visible controls let the platform automate more with confidence.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VSPHERE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From artifact to operating VM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331720" cy="1481328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029968"/>
            <a:ext cx="192024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087E82"/>
                </a:solidFill>
                <a:latin typeface="Noto Sans"/>
              </a:defRPr>
            </a:pPr>
            <a: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377440"/>
            <a:ext cx="20116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Noto Sans"/>
              </a:defRPr>
            </a:pPr>
            <a:r>
              <a:t>library OVA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Noto Sans"/>
              </a:defRPr>
            </a:pPr>
            <a:r>
              <a:t>or template</a:t>
            </a:r>
          </a:p>
        </p:txBody>
      </p:sp>
      <p:sp>
        <p:nvSpPr>
          <p:cNvPr id="9" name="Chevron 8"/>
          <p:cNvSpPr/>
          <p:nvPr/>
        </p:nvSpPr>
        <p:spPr>
          <a:xfrm>
            <a:off x="3108960" y="2340864"/>
            <a:ext cx="237744" cy="420624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1568" y="1828800"/>
            <a:ext cx="2331720" cy="1481328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2736" y="2029968"/>
            <a:ext cx="192024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3978A8"/>
                </a:solidFill>
                <a:latin typeface="Noto Sans"/>
              </a:defRPr>
            </a:pPr>
            <a:r>
              <a:t>DEPLOY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2377440"/>
            <a:ext cx="20116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Noto Sans"/>
              </a:defRPr>
            </a:pPr>
            <a:r>
              <a:t>vSphere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Noto Sans"/>
              </a:defRPr>
            </a:pPr>
            <a:r>
              <a:t>placement</a:t>
            </a:r>
          </a:p>
        </p:txBody>
      </p:sp>
      <p:sp>
        <p:nvSpPr>
          <p:cNvPr id="13" name="Chevron 12"/>
          <p:cNvSpPr/>
          <p:nvPr/>
        </p:nvSpPr>
        <p:spPr>
          <a:xfrm>
            <a:off x="5852160" y="2340864"/>
            <a:ext cx="237744" cy="420624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44768" y="1828800"/>
            <a:ext cx="2331720" cy="1481328"/>
          </a:xfrm>
          <a:prstGeom prst="roundRect">
            <a:avLst/>
          </a:prstGeom>
          <a:solidFill>
            <a:srgbClr val="F4E2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029968"/>
            <a:ext cx="192024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D95D43"/>
                </a:solidFill>
                <a:latin typeface="Noto Sans"/>
              </a:defRPr>
            </a:pPr>
            <a:r>
              <a:t>BOOTSTRAP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377440"/>
            <a:ext cx="20116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Noto Sans"/>
              </a:defRPr>
            </a:pPr>
            <a:r>
              <a:t>vApp +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Noto Sans"/>
              </a:defRPr>
            </a:pPr>
            <a:r>
              <a:t>cloud-init</a:t>
            </a:r>
          </a:p>
        </p:txBody>
      </p:sp>
      <p:sp>
        <p:nvSpPr>
          <p:cNvPr id="17" name="Chevron 16"/>
          <p:cNvSpPr/>
          <p:nvPr/>
        </p:nvSpPr>
        <p:spPr>
          <a:xfrm>
            <a:off x="8595360" y="2340864"/>
            <a:ext cx="237744" cy="420624"/>
          </a:xfrm>
          <a:prstGeom prst="chevron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87968" y="1828800"/>
            <a:ext cx="2331720" cy="1481328"/>
          </a:xfrm>
          <a:prstGeom prst="roundRect">
            <a:avLst/>
          </a:prstGeom>
          <a:solidFill>
            <a:srgbClr val="E1EB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9136" y="2029968"/>
            <a:ext cx="192024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4D8766"/>
                </a:solidFill>
                <a:latin typeface="Noto Sans"/>
              </a:defRPr>
            </a:pPr>
            <a:r>
              <a:t>CONFIGURE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9136" y="2377440"/>
            <a:ext cx="20116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Noto Sans"/>
              </a:defRPr>
            </a:pPr>
            <a:r>
              <a:t>family +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42A"/>
                </a:solidFill>
                <a:latin typeface="Noto Sans"/>
              </a:defRPr>
            </a:pPr>
            <a:r>
              <a:t>workload roles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22191"/>
            <a:ext cx="1755648" cy="292608"/>
          </a:xfrm>
          <a:prstGeom prst="roundRect">
            <a:avLst/>
          </a:prstGeom>
          <a:solidFill>
            <a:srgbClr val="12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831335"/>
            <a:ext cx="1755648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LIFECYCLE CONTINUES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4398264"/>
            <a:ext cx="91440" cy="91440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15968"/>
            <a:ext cx="32918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DejaVu Sans Mono"/>
              </a:defRPr>
            </a:pPr>
            <a:r>
              <a:t>resize-hardware</a:t>
            </a:r>
          </a:p>
        </p:txBody>
      </p:sp>
      <p:sp>
        <p:nvSpPr>
          <p:cNvPr id="25" name="Oval 24"/>
          <p:cNvSpPr/>
          <p:nvPr/>
        </p:nvSpPr>
        <p:spPr>
          <a:xfrm>
            <a:off x="4361688" y="4398264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81144" y="4315968"/>
            <a:ext cx="32918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DejaVu Sans Mono"/>
              </a:defRPr>
            </a:pPr>
            <a:r>
              <a:t>resize-disk + resize-volumes</a:t>
            </a:r>
          </a:p>
        </p:txBody>
      </p:sp>
      <p:sp>
        <p:nvSpPr>
          <p:cNvPr id="27" name="Oval 26"/>
          <p:cNvSpPr/>
          <p:nvPr/>
        </p:nvSpPr>
        <p:spPr>
          <a:xfrm>
            <a:off x="8065008" y="4398264"/>
            <a:ext cx="91440" cy="91440"/>
          </a:xfrm>
          <a:prstGeom prst="ellipse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4315968"/>
            <a:ext cx="32918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DejaVu Sans Mono"/>
              </a:defRPr>
            </a:pPr>
            <a:r>
              <a:t>vmware-snapshot + enable-cbt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" y="5056631"/>
            <a:ext cx="91440" cy="91440"/>
          </a:xfrm>
          <a:prstGeom prst="ellipse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" y="4974336"/>
            <a:ext cx="32918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DejaVu Sans Mono"/>
              </a:defRPr>
            </a:pPr>
            <a:r>
              <a:t>guest-vmotion / power</a:t>
            </a:r>
          </a:p>
        </p:txBody>
      </p:sp>
      <p:sp>
        <p:nvSpPr>
          <p:cNvPr id="31" name="Oval 30"/>
          <p:cNvSpPr/>
          <p:nvPr/>
        </p:nvSpPr>
        <p:spPr>
          <a:xfrm>
            <a:off x="4361688" y="5056631"/>
            <a:ext cx="91440" cy="91440"/>
          </a:xfrm>
          <a:prstGeom prst="ellipse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81144" y="4974336"/>
            <a:ext cx="32918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DejaVu Sans Mono"/>
              </a:defRPr>
            </a:pPr>
            <a:r>
              <a:t>networks + ufw</a:t>
            </a:r>
          </a:p>
        </p:txBody>
      </p:sp>
      <p:sp>
        <p:nvSpPr>
          <p:cNvPr id="33" name="Oval 32"/>
          <p:cNvSpPr/>
          <p:nvPr/>
        </p:nvSpPr>
        <p:spPr>
          <a:xfrm>
            <a:off x="8065008" y="5056631"/>
            <a:ext cx="91440" cy="91440"/>
          </a:xfrm>
          <a:prstGeom prst="ellipse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84464" y="4974336"/>
            <a:ext cx="32918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1">
                <a:solidFill>
                  <a:srgbClr val="17242A"/>
                </a:solidFill>
                <a:latin typeface="DejaVu Sans Mono"/>
              </a:defRPr>
            </a:pPr>
            <a:r>
              <a:t>telegraf + do-release-upgrade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70448"/>
            <a:ext cx="10972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7595C"/>
                </a:solidFill>
                <a:latin typeface="Noto Sans"/>
              </a:defRPr>
            </a:pPr>
            <a:r>
              <a:t>Deployment is a handoff into operations, not a finish line.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PORTABLE CUSTOMIZATION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Storage by intent, not device name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426464"/>
            <a:ext cx="1417320" cy="292608"/>
          </a:xfrm>
          <a:prstGeom prst="roundRect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435608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DECLARATION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28800"/>
            <a:ext cx="3794760" cy="2194560"/>
          </a:xfrm>
          <a:prstGeom prst="roundRect">
            <a:avLst/>
          </a:prstGeom>
          <a:solidFill>
            <a:srgbClr val="12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8CC9C9"/>
                </a:solidFill>
                <a:latin typeface="DejaVu Sans Mono"/>
              </a:defRPr>
            </a:pPr>
            <a:r>
              <a:t>diskb: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112264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controller_number: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31136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unit_number:      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350008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part_number:      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68880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size_gb:           "{{ vm_disk1_gb | default(40, true) }}"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587752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vg:                'vg2'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706624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68096" y="2825496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8CC9C9"/>
                </a:solidFill>
                <a:latin typeface="DejaVu Sans Mono"/>
              </a:defRPr>
            </a:pPr>
            <a:r>
              <a:t>volumes: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944368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- path:     '/var/log'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063240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  vg:       "{{ diskb.vg }}"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  lv:       'lv_var_log'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300984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  fstype:   'ext4'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3419856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  size:     '4G'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538728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  opts:     'defaults'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3657600"/>
            <a:ext cx="4114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FFFFFF"/>
                </a:solidFill>
                <a:latin typeface="DejaVu Sans Mono"/>
              </a:defRPr>
            </a:pPr>
            <a:r>
              <a:t>    state:    'mounted'</a:t>
            </a:r>
          </a:p>
        </p:txBody>
      </p:sp>
      <p:sp>
        <p:nvSpPr>
          <p:cNvPr id="24" name="Chevron 23"/>
          <p:cNvSpPr/>
          <p:nvPr/>
        </p:nvSpPr>
        <p:spPr>
          <a:xfrm>
            <a:off x="4544568" y="3081528"/>
            <a:ext cx="411480" cy="502920"/>
          </a:xfrm>
          <a:prstGeom prst="chevron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47488" y="1426464"/>
            <a:ext cx="1572768" cy="292608"/>
          </a:xfrm>
          <a:prstGeom prst="round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47488" y="1435608"/>
            <a:ext cx="1572768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RUNTIME DISCOVERY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47488" y="1874519"/>
            <a:ext cx="2377440" cy="512064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84648" y="1929384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7595C"/>
                </a:solidFill>
                <a:latin typeface="DejaVu Sans Mono"/>
              </a:defRPr>
            </a:pPr>
            <a:r>
              <a:t>/dev/sd?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4648" y="2157984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5C6A70"/>
                </a:solidFill>
                <a:latin typeface="Noto Sans"/>
              </a:defRPr>
            </a:pPr>
            <a:r>
              <a:t>VMware, GCP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488" y="2532887"/>
            <a:ext cx="2377440" cy="512064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84648" y="2587752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7595C"/>
                </a:solidFill>
                <a:latin typeface="DejaVu Sans Mono"/>
              </a:defRPr>
            </a:pPr>
            <a:r>
              <a:t>/dev/vd?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2816352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5C6A70"/>
                </a:solidFill>
                <a:latin typeface="Noto Sans"/>
              </a:defRPr>
            </a:pPr>
            <a:r>
              <a:t>OpenStack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47488" y="3191256"/>
            <a:ext cx="2377440" cy="512064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84648" y="3246120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7595C"/>
                </a:solidFill>
                <a:latin typeface="DejaVu Sans Mono"/>
              </a:defRPr>
            </a:pPr>
            <a:r>
              <a:t>/dev/xvd?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4648" y="3474720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5C6A70"/>
                </a:solidFill>
                <a:latin typeface="Noto Sans"/>
              </a:defRPr>
            </a:pPr>
            <a:r>
              <a:t>AWS Xen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47488" y="3849624"/>
            <a:ext cx="2377440" cy="512064"/>
          </a:xfrm>
          <a:prstGeom prst="roundRect">
            <a:avLst/>
          </a:prstGeom>
          <a:solidFill>
            <a:srgbClr val="D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84648" y="3904487"/>
            <a:ext cx="128016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7595C"/>
                </a:solidFill>
                <a:latin typeface="DejaVu Sans Mono"/>
              </a:defRPr>
            </a:pPr>
            <a:r>
              <a:t>/dev/nvme?n?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4648" y="4133087"/>
            <a:ext cx="21031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50" b="1">
                <a:solidFill>
                  <a:srgbClr val="5C6A70"/>
                </a:solidFill>
                <a:latin typeface="Noto Sans"/>
              </a:defRPr>
            </a:pPr>
            <a:r>
              <a:t>AWS Nitro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7488" y="4617720"/>
            <a:ext cx="237744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5C6A70"/>
                </a:solidFill>
                <a:latin typeface="Noto Sans"/>
              </a:defRPr>
            </a:pPr>
            <a:r>
              <a:t>getdevs role: match by position</a:t>
            </a:r>
          </a:p>
        </p:txBody>
      </p:sp>
      <p:sp>
        <p:nvSpPr>
          <p:cNvPr id="40" name="Chevron 39"/>
          <p:cNvSpPr/>
          <p:nvPr/>
        </p:nvSpPr>
        <p:spPr>
          <a:xfrm>
            <a:off x="7534656" y="3081528"/>
            <a:ext cx="411480" cy="502920"/>
          </a:xfrm>
          <a:prstGeom prst="chevron">
            <a:avLst/>
          </a:prstGeom>
          <a:solidFill>
            <a:srgbClr val="E4A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28431" y="1426464"/>
            <a:ext cx="1389888" cy="292608"/>
          </a:xfrm>
          <a:prstGeom prst="roundRect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28431" y="1435608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FFFFF"/>
                </a:solidFill>
                <a:latin typeface="Noto Sans"/>
              </a:defRPr>
            </a:pPr>
            <a:r>
              <a:t>OUTCOME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28431" y="1938528"/>
            <a:ext cx="9601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28431" y="2139696"/>
            <a:ext cx="960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978A8"/>
                </a:solidFill>
                <a:latin typeface="Noto Sans"/>
              </a:defRPr>
            </a:pPr>
            <a:r>
              <a:t>DISK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988552" y="2267712"/>
            <a:ext cx="210311" cy="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9198863" y="1938528"/>
            <a:ext cx="9601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7E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98863" y="2139696"/>
            <a:ext cx="960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87E82"/>
                </a:solidFill>
                <a:latin typeface="Noto Sans"/>
              </a:defRPr>
            </a:pPr>
            <a:r>
              <a:t>PV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158984" y="2267712"/>
            <a:ext cx="210312" cy="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10369296" y="1938528"/>
            <a:ext cx="9601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5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69296" y="2139696"/>
            <a:ext cx="960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VG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28431" y="3035808"/>
            <a:ext cx="9601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87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28431" y="3236976"/>
            <a:ext cx="960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LV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988552" y="3364992"/>
            <a:ext cx="210311" cy="0"/>
          </a:xfrm>
          <a:prstGeom prst="line">
            <a:avLst/>
          </a:prstGeom>
          <a:ln w="254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9198863" y="3035808"/>
            <a:ext cx="9601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A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98863" y="3236976"/>
            <a:ext cx="9601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E4AD3A"/>
                </a:solidFill>
                <a:latin typeface="Noto Sans"/>
              </a:defRPr>
            </a:pPr>
            <a:r>
              <a:t>MOUNT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28431" y="4251960"/>
            <a:ext cx="3493008" cy="841248"/>
          </a:xfrm>
          <a:prstGeom prst="roundRect">
            <a:avLst/>
          </a:prstGeom>
          <a:solidFill>
            <a:srgbClr val="E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4407408"/>
            <a:ext cx="309067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3978A8"/>
                </a:solidFill>
                <a:latin typeface="Noto Sans"/>
              </a:defRPr>
            </a:pPr>
            <a:r>
              <a:t>the same declaration works on every guest device naming scheme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OPERATOR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Simple commands, reusable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24688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87E82"/>
                </a:solidFill>
                <a:latin typeface="Noto Sans"/>
              </a:defRPr>
            </a:pPr>
            <a:r>
              <a:t>DEPLOY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56816"/>
            <a:ext cx="2432304" cy="54864"/>
          </a:xfrm>
          <a:prstGeom prst="rect">
            <a:avLst/>
          </a:prstGeom>
          <a:solidFill>
            <a:srgbClr val="087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21992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42A"/>
                </a:solidFill>
                <a:latin typeface="DejaVu Sans Mono"/>
              </a:defRPr>
            </a:pPr>
            <a:r>
              <a:t>deploy-ova.sh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52344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7242A"/>
                </a:solidFill>
                <a:latin typeface="DejaVu Sans Mono"/>
              </a:defRPr>
            </a:pPr>
            <a:r>
              <a:t>deploy-template.sh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82696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7242A"/>
                </a:solidFill>
                <a:latin typeface="DejaVu Sans Mono"/>
              </a:defRPr>
            </a:pPr>
            <a:r>
              <a:t>set-hostname.sh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1600200"/>
            <a:ext cx="24688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978A8"/>
                </a:solidFill>
                <a:latin typeface="Noto Sans"/>
              </a:defRPr>
            </a:pPr>
            <a:r>
              <a:t>CHANGE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9856" y="1956816"/>
            <a:ext cx="2432304" cy="54864"/>
          </a:xfrm>
          <a:prstGeom prst="rect">
            <a:avLst/>
          </a:prstGeom>
          <a:solidFill>
            <a:srgbClr val="39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9856" y="2221992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42A"/>
                </a:solidFill>
                <a:latin typeface="DejaVu Sans Mono"/>
              </a:defRPr>
            </a:pPr>
            <a:r>
              <a:t>resize-hardware.sh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9856" y="2752344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7242A"/>
                </a:solidFill>
                <a:latin typeface="DejaVu Sans Mono"/>
              </a:defRPr>
            </a:pPr>
            <a:r>
              <a:t>resize-volumes.sh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3282696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7242A"/>
                </a:solidFill>
                <a:latin typeface="DejaVu Sans Mono"/>
              </a:defRPr>
            </a:pPr>
            <a:r>
              <a:t>networks.sh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1344" y="1600200"/>
            <a:ext cx="24688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OBSERVE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956816"/>
            <a:ext cx="2432304" cy="54864"/>
          </a:xfrm>
          <a:prstGeom prst="rect">
            <a:avLst/>
          </a:prstGeom>
          <a:solidFill>
            <a:srgbClr val="4D8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1344" y="2221992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42A"/>
                </a:solidFill>
                <a:latin typeface="DejaVu Sans Mono"/>
              </a:defRPr>
            </a:pPr>
            <a:r>
              <a:t>guest-info.sh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2752344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7242A"/>
                </a:solidFill>
                <a:latin typeface="DejaVu Sans Mono"/>
              </a:defRPr>
            </a:pPr>
            <a:r>
              <a:t>host-info.sh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1344" y="3282696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7242A"/>
                </a:solidFill>
                <a:latin typeface="DejaVu Sans Mono"/>
              </a:defRPr>
            </a:pPr>
            <a:r>
              <a:t>node-exporter.sh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2832" y="1600200"/>
            <a:ext cx="24688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RECOVER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42832" y="1956816"/>
            <a:ext cx="2432304" cy="54864"/>
          </a:xfrm>
          <a:prstGeom prst="rect">
            <a:avLst/>
          </a:prstGeom>
          <a:solidFill>
            <a:srgbClr val="D95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42832" y="2221992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7242A"/>
                </a:solidFill>
                <a:latin typeface="DejaVu Sans Mono"/>
              </a:defRPr>
            </a:pPr>
            <a:r>
              <a:t>vmware-snapshot.sh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2832" y="2752344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7242A"/>
                </a:solidFill>
                <a:latin typeface="DejaVu Sans Mono"/>
              </a:defRPr>
            </a:pPr>
            <a:r>
              <a:t>power-off.sh / power-on.sh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3282696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7242A"/>
                </a:solidFill>
                <a:latin typeface="DejaVu Sans Mono"/>
              </a:defRPr>
            </a:pPr>
            <a:r>
              <a:t>vmotion-vm.sh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224528"/>
            <a:ext cx="10972800" cy="1170432"/>
          </a:xfrm>
          <a:prstGeom prst="roundRect">
            <a:avLst/>
          </a:prstGeom>
          <a:solidFill>
            <a:srgbClr val="12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443984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9EB5BA"/>
                </a:solidFill>
                <a:latin typeface="Noto Sans"/>
              </a:defRPr>
            </a:pPr>
            <a:r>
              <a:t>OPERATOR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4764024"/>
            <a:ext cx="2926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one clear wrapper</a:t>
            </a:r>
          </a:p>
        </p:txBody>
      </p:sp>
      <p:sp>
        <p:nvSpPr>
          <p:cNvPr id="29" name="Chevron 28"/>
          <p:cNvSpPr/>
          <p:nvPr/>
        </p:nvSpPr>
        <p:spPr>
          <a:xfrm>
            <a:off x="4023360" y="4617720"/>
            <a:ext cx="365760" cy="438912"/>
          </a:xfrm>
          <a:prstGeom prst="chevron">
            <a:avLst/>
          </a:prstGeom>
          <a:solidFill>
            <a:srgbClr val="486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4443984"/>
            <a:ext cx="2743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9EB5BA"/>
                </a:solidFill>
                <a:latin typeface="Noto Sans"/>
              </a:defRPr>
            </a:pPr>
            <a:r>
              <a:t>IMPLEMENTATION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9160" y="4764024"/>
            <a:ext cx="2926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idempotent role</a:t>
            </a:r>
          </a:p>
        </p:txBody>
      </p:sp>
      <p:sp>
        <p:nvSpPr>
          <p:cNvPr id="32" name="Chevron 31"/>
          <p:cNvSpPr/>
          <p:nvPr/>
        </p:nvSpPr>
        <p:spPr>
          <a:xfrm>
            <a:off x="7680960" y="4617720"/>
            <a:ext cx="365760" cy="438912"/>
          </a:xfrm>
          <a:prstGeom prst="chevron">
            <a:avLst/>
          </a:prstGeom>
          <a:solidFill>
            <a:srgbClr val="486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4443984"/>
            <a:ext cx="25603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9EB5BA"/>
                </a:solidFill>
                <a:latin typeface="Noto Sans"/>
              </a:defRPr>
            </a:pPr>
            <a: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764024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Noto Sans"/>
              </a:defRPr>
            </a:pPr>
            <a:r>
              <a:t>repeatable change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23560"/>
            <a:ext cx="109728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50" b="0">
                <a:solidFill>
                  <a:srgbClr val="5C6A70"/>
                </a:solidFill>
                <a:latin typeface="Noto Sans"/>
              </a:defRPr>
            </a:pPr>
            <a:r>
              <a:t>36 wrappers in bin/, one per playbook. Each one sets up the run; the role does the work.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WORKLOAD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42A"/>
                </a:solidFill>
                <a:latin typeface="Noto Sans"/>
              </a:defRPr>
            </a:pPr>
            <a:r>
              <a:t>Tune with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CAD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481328"/>
            <a:ext cx="1920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70632" y="1481328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47888" y="1481328"/>
            <a:ext cx="2834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5C6A70"/>
                </a:solidFill>
                <a:latin typeface="Noto Sans"/>
              </a:defRPr>
            </a:pPr>
            <a:r>
              <a:t>VERIFY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28800"/>
            <a:ext cx="1810512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97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29968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50" b="1">
                <a:solidFill>
                  <a:srgbClr val="3978A8"/>
                </a:solidFill>
                <a:latin typeface="Noto Sans"/>
              </a:defRPr>
            </a:pPr>
            <a:r>
              <a:t>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0632" y="1993392"/>
            <a:ext cx="5303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second disk on its own paravirtual 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2002536"/>
            <a:ext cx="32004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A70"/>
                </a:solidFill>
                <a:latin typeface="Noto Sans"/>
              </a:defRPr>
            </a:pPr>
            <a:r>
              <a:t>I/O concurrency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2633472"/>
            <a:ext cx="10881360" cy="0"/>
          </a:xfrm>
          <a:prstGeom prst="line">
            <a:avLst/>
          </a:prstGeom>
          <a:ln w="127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8368" y="2761488"/>
            <a:ext cx="1810512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7E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62656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50" b="1">
                <a:solidFill>
                  <a:srgbClr val="087E82"/>
                </a:solidFill>
                <a:latin typeface="Noto Sans"/>
              </a:defRPr>
            </a:pPr>
            <a:r>
              <a:t>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0632" y="2926080"/>
            <a:ext cx="5303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zramswap where pressure justifies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935224"/>
            <a:ext cx="32004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A70"/>
                </a:solidFill>
                <a:latin typeface="Noto Sans"/>
              </a:defRPr>
            </a:pPr>
            <a:r>
              <a:t>swap + workload behavior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3566160"/>
            <a:ext cx="10881360" cy="0"/>
          </a:xfrm>
          <a:prstGeom prst="line">
            <a:avLst/>
          </a:prstGeom>
          <a:ln w="127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58368" y="3694176"/>
            <a:ext cx="1810512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D87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895344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50" b="1">
                <a:solidFill>
                  <a:srgbClr val="4D8766"/>
                </a:solidFill>
                <a:latin typeface="Noto Sans"/>
              </a:defRPr>
            </a:pPr>
            <a:r>
              <a:t>OBSERVABILITY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3858768"/>
            <a:ext cx="5303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telegraf or node-exporter at provisioning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867912"/>
            <a:ext cx="32004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A70"/>
                </a:solidFill>
                <a:latin typeface="Noto Sans"/>
              </a:defRPr>
            </a:pPr>
            <a:r>
              <a:t>baseline from first boot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4498848"/>
            <a:ext cx="10881360" cy="0"/>
          </a:xfrm>
          <a:prstGeom prst="line">
            <a:avLst/>
          </a:prstGeom>
          <a:ln w="12700">
            <a:solidFill>
              <a:srgbClr val="CAD2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8368" y="4626864"/>
            <a:ext cx="1810512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5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828032"/>
            <a:ext cx="181051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50" b="1">
                <a:solidFill>
                  <a:srgbClr val="D95D43"/>
                </a:solidFill>
                <a:latin typeface="Noto Sans"/>
              </a:defRPr>
            </a:pPr>
            <a:r>
              <a:t>PARALLELISM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4791456"/>
            <a:ext cx="5303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7242A"/>
                </a:solidFill>
                <a:latin typeface="Noto Sans"/>
              </a:defRPr>
            </a:pPr>
            <a:r>
              <a:t>batch deploys; serialize shared image builds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4800600"/>
            <a:ext cx="32004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C6A70"/>
                </a:solidFill>
                <a:latin typeface="Noto Sans"/>
              </a:defRPr>
            </a:pPr>
            <a:r>
              <a:t>elapsed time + integrity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687568"/>
            <a:ext cx="10972800" cy="438912"/>
          </a:xfrm>
          <a:prstGeom prst="roundRect">
            <a:avLst/>
          </a:prstGeom>
          <a:solidFill>
            <a:srgbClr val="F4EB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769864"/>
            <a:ext cx="10561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7242A"/>
                </a:solidFill>
                <a:latin typeface="Noto Sans"/>
              </a:defRPr>
            </a:pPr>
            <a:r>
              <a:t>Connect each choice to a measurable result.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5C6A70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5C6A70"/>
                </a:solidFill>
                <a:latin typeface="Noto San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D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8992" y="256032"/>
            <a:ext cx="4114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BCD0D3"/>
                </a:solidFill>
                <a:latin typeface="Noto Sans"/>
              </a:defRPr>
            </a:pPr>
            <a: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09728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Noto Sans"/>
              </a:defRPr>
            </a:pPr>
            <a:r>
              <a:t>What the platform delivers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11045952" cy="22860"/>
          </a:xfrm>
          <a:prstGeom prst="rect">
            <a:avLst/>
          </a:prstGeom>
          <a:solidFill>
            <a:srgbClr val="4860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87E8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572768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Multi-distro image portfolio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16736" y="2075688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59" y="1627632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3978A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7727" y="1572768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Four publication targets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67727" y="2075688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651760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D95D43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2596896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Configuration as contract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16736" y="3099815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59" y="2651760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E4AD3A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2596896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Image-to-service lifecycle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67727" y="3099815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3675887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D8766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3621024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Consistent operator interface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16736" y="4123944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09359" y="3675887"/>
            <a:ext cx="5029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087E82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7" y="3621024"/>
            <a:ext cx="46177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Continuous improvement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67727" y="4123944"/>
            <a:ext cx="4599432" cy="0"/>
          </a:xfrm>
          <a:prstGeom prst="line">
            <a:avLst/>
          </a:prstGeom>
          <a:ln w="12700">
            <a:solidFill>
              <a:srgbClr val="48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8368" y="5010912"/>
            <a:ext cx="10881360" cy="950976"/>
          </a:xfrm>
          <a:prstGeom prst="roundRect">
            <a:avLst/>
          </a:prstGeom>
          <a:solidFill>
            <a:srgbClr val="1B41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02936"/>
            <a:ext cx="1037844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Noto Sans"/>
              </a:defRPr>
            </a:pPr>
            <a:r>
              <a:t>From image to service with speed, clarity, and confidence.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9EB5BA"/>
                </a:solidFill>
                <a:latin typeface="Noto Sans"/>
              </a:defRPr>
            </a:pPr>
            <a:r>
              <a:t>LINUX INFRASTRUCTURE  |  DESIGN, DELIVERY, OPERATIONS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10528"/>
            <a:ext cx="5029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9EB5BA"/>
                </a:solidFill>
                <a:latin typeface="Noto San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